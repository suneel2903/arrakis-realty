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IBM Plex Sans Condensed"/>
              </a:rPr>
              <a:t>Click to move the slide</a:t>
            </a:r>
            <a:endParaRPr b="0" lang="en-IN" sz="1800" spc="-1" strike="noStrike">
              <a:solidFill>
                <a:schemeClr val="dk1"/>
              </a:solidFill>
              <a:latin typeface="IBM Plex Sans Condensed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DD053A9-7833-4B1C-A860-208F8A771681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Columns are phases; rows are what is needed to start building, what is delivered, third-party tools at cost, maintenance, and commercials. Commercials split pure tech work from setup and project management. Team: one developer and one product/project lead. Phase 1 and 2 are indicative.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3FFDB4-5B0B-4509-A10F-4A7D9F0B06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55680" y="254160"/>
            <a:ext cx="11480400" cy="33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400" spc="-1" strike="noStrike">
                <a:solidFill>
                  <a:schemeClr val="dk1"/>
                </a:solidFill>
                <a:latin typeface="IBM Plex Sans Condensed"/>
              </a:rPr>
              <a:t>Click to edit the title text format</a:t>
            </a:r>
            <a:endParaRPr b="0" lang="en-IN" sz="2400" spc="-1" strike="noStrike">
              <a:solidFill>
                <a:schemeClr val="dk1"/>
              </a:solidFill>
              <a:latin typeface="IBM Plex Sans Condensed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55680" y="892440"/>
            <a:ext cx="11023200" cy="515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chemeClr val="dk1"/>
                </a:solidFill>
                <a:latin typeface="IBM Plex Sans Condensed"/>
              </a:rPr>
              <a:t>Click to edit the outline text format</a:t>
            </a:r>
            <a:endParaRPr b="0" lang="en-IN" sz="1600" spc="-1" strike="noStrike">
              <a:solidFill>
                <a:schemeClr val="dk1"/>
              </a:solidFill>
              <a:latin typeface="IBM Plex Sans Condensed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pc="-1" strike="noStrike">
                <a:solidFill>
                  <a:schemeClr val="dk1"/>
                </a:solidFill>
                <a:latin typeface="IBM Plex Sans Condensed"/>
              </a:rPr>
              <a:t>Second Outline Level</a:t>
            </a:r>
            <a:endParaRPr b="0" lang="en-IN" sz="1600" spc="-1" strike="noStrike">
              <a:solidFill>
                <a:schemeClr val="dk1"/>
              </a:solidFill>
              <a:latin typeface="IBM Plex Sans Condensed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chemeClr val="dk1"/>
                </a:solidFill>
                <a:latin typeface="IBM Plex Sans Condensed"/>
              </a:rPr>
              <a:t>Third Outline Level</a:t>
            </a:r>
            <a:endParaRPr b="0" lang="en-IN" sz="1600" spc="-1" strike="noStrike">
              <a:solidFill>
                <a:schemeClr val="dk1"/>
              </a:solidFill>
              <a:latin typeface="IBM Plex Sans Condensed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pc="-1" strike="noStrike">
                <a:solidFill>
                  <a:schemeClr val="dk1"/>
                </a:solidFill>
                <a:latin typeface="IBM Plex Sans Condensed"/>
              </a:rPr>
              <a:t>Fourth Outline Level</a:t>
            </a:r>
            <a:endParaRPr b="0" lang="en-IN" sz="1600" spc="-1" strike="noStrike">
              <a:solidFill>
                <a:schemeClr val="dk1"/>
              </a:solidFill>
              <a:latin typeface="IBM Plex Sans Condensed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chemeClr val="dk1"/>
                </a:solidFill>
                <a:latin typeface="IBM Plex Sans Condensed"/>
              </a:rPr>
              <a:t>Fifth Outline Level</a:t>
            </a:r>
            <a:endParaRPr b="0" lang="en-IN" sz="1600" spc="-1" strike="noStrike">
              <a:solidFill>
                <a:schemeClr val="dk1"/>
              </a:solidFill>
              <a:latin typeface="IBM Plex Sans Condensed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chemeClr val="dk1"/>
                </a:solidFill>
                <a:latin typeface="IBM Plex Sans Condensed"/>
              </a:rPr>
              <a:t>Sixth Outline Level</a:t>
            </a:r>
            <a:endParaRPr b="0" lang="en-IN" sz="1600" spc="-1" strike="noStrike">
              <a:solidFill>
                <a:schemeClr val="dk1"/>
              </a:solidFill>
              <a:latin typeface="IBM Plex Sans Condensed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chemeClr val="dk1"/>
                </a:solidFill>
                <a:latin typeface="IBM Plex Sans Condensed"/>
              </a:rPr>
              <a:t>Seventh Outline Level</a:t>
            </a:r>
            <a:endParaRPr b="0" lang="en-IN" sz="1600" spc="-1" strike="noStrike">
              <a:solidFill>
                <a:schemeClr val="dk1"/>
              </a:solidFill>
              <a:latin typeface="IBM Plex Sans Condensed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55680" y="254160"/>
            <a:ext cx="11824920" cy="3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1b16"/>
                </a:solidFill>
                <a:latin typeface="IBM Plex Sans"/>
                <a:ea typeface="IBM Plex Sans"/>
              </a:rPr>
              <a:t>Arrakis Realty Tech Systems at a glance</a:t>
            </a:r>
            <a:endParaRPr b="0" lang="en-IN" sz="2400" spc="-1" strike="noStrike">
              <a:solidFill>
                <a:schemeClr val="dk1"/>
              </a:solidFill>
              <a:latin typeface="IBM Plex Sans Condensed"/>
            </a:endParaRPr>
          </a:p>
        </p:txBody>
      </p:sp>
      <p:sp>
        <p:nvSpPr>
          <p:cNvPr id="9" name="Shape 1"/>
          <p:cNvSpPr/>
          <p:nvPr/>
        </p:nvSpPr>
        <p:spPr>
          <a:xfrm>
            <a:off x="355680" y="702000"/>
            <a:ext cx="1269720" cy="581400"/>
          </a:xfrm>
          <a:prstGeom prst="rect">
            <a:avLst/>
          </a:prstGeom>
          <a:solidFill>
            <a:srgbClr val="f4ef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663560" y="702000"/>
            <a:ext cx="2514240" cy="581400"/>
          </a:xfrm>
          <a:custGeom>
            <a:avLst/>
            <a:gdLst>
              <a:gd name="textAreaLeft" fmla="*/ 0 w 2514240"/>
              <a:gd name="textAreaRight" fmla="*/ 2514600 w 2514240"/>
              <a:gd name="textAreaTop" fmla="*/ 0 h 581400"/>
              <a:gd name="textAreaBottom" fmla="*/ 581760 h 581400"/>
            </a:gdLst>
            <a:ahLst/>
            <a:rect l="textAreaLeft" t="textAreaTop" r="textAreaRight" b="textAreaBottom"/>
            <a:pathLst>
              <a:path w="2514600" h="581620">
                <a:moveTo>
                  <a:pt x="63500" y="0"/>
                </a:moveTo>
                <a:lnTo>
                  <a:pt x="2451100" y="0"/>
                </a:lnTo>
                <a:arcTo wR="63500" hR="63500" stAng="16200000" swAng="5400000"/>
                <a:lnTo>
                  <a:pt x="2514600" y="581620"/>
                </a:lnTo>
                <a:lnTo>
                  <a:pt x="0" y="58162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1f1b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778040" y="777960"/>
            <a:ext cx="23544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4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4efe6"/>
                </a:solidFill>
                <a:latin typeface="IBM Plex Sans"/>
                <a:ea typeface="IBM Plex Sans"/>
              </a:rPr>
              <a:t>Pre-start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778040" y="1024560"/>
            <a:ext cx="23544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4efe6"/>
                </a:solidFill>
                <a:latin typeface="IBM Plex Sans Condensed"/>
                <a:ea typeface="IBM Plex Sans Condensed"/>
              </a:rPr>
              <a:t>Setup &amp; approvals · Prior to Work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4216320" y="702000"/>
            <a:ext cx="2514240" cy="581400"/>
          </a:xfrm>
          <a:custGeom>
            <a:avLst/>
            <a:gdLst>
              <a:gd name="textAreaLeft" fmla="*/ 0 w 2514240"/>
              <a:gd name="textAreaRight" fmla="*/ 2514600 w 2514240"/>
              <a:gd name="textAreaTop" fmla="*/ 0 h 581400"/>
              <a:gd name="textAreaBottom" fmla="*/ 581760 h 581400"/>
            </a:gdLst>
            <a:ahLst/>
            <a:rect l="textAreaLeft" t="textAreaTop" r="textAreaRight" b="textAreaBottom"/>
            <a:pathLst>
              <a:path w="2514600" h="581620">
                <a:moveTo>
                  <a:pt x="63500" y="0"/>
                </a:moveTo>
                <a:lnTo>
                  <a:pt x="2451100" y="0"/>
                </a:lnTo>
                <a:arcTo wR="63500" hR="63500" stAng="16200000" swAng="5400000"/>
                <a:lnTo>
                  <a:pt x="2514600" y="581620"/>
                </a:lnTo>
                <a:lnTo>
                  <a:pt x="0" y="58162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1f1b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330800" y="777960"/>
            <a:ext cx="23544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4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4efe6"/>
                </a:solidFill>
                <a:latin typeface="IBM Plex Sans"/>
                <a:ea typeface="IBM Plex Sans"/>
              </a:rPr>
              <a:t>Phase 0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330800" y="1024560"/>
            <a:ext cx="23544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4efe6"/>
                </a:solidFill>
                <a:latin typeface="IBM Plex Sans Condensed"/>
                <a:ea typeface="IBM Plex Sans Condensed"/>
              </a:rPr>
              <a:t>Launch · Weeks 1–2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6769080" y="702000"/>
            <a:ext cx="2514240" cy="581400"/>
          </a:xfrm>
          <a:custGeom>
            <a:avLst/>
            <a:gdLst>
              <a:gd name="textAreaLeft" fmla="*/ 0 w 2514240"/>
              <a:gd name="textAreaRight" fmla="*/ 2514600 w 2514240"/>
              <a:gd name="textAreaTop" fmla="*/ 0 h 581400"/>
              <a:gd name="textAreaBottom" fmla="*/ 581760 h 581400"/>
            </a:gdLst>
            <a:ahLst/>
            <a:rect l="textAreaLeft" t="textAreaTop" r="textAreaRight" b="textAreaBottom"/>
            <a:pathLst>
              <a:path w="2514600" h="581620">
                <a:moveTo>
                  <a:pt x="63500" y="0"/>
                </a:moveTo>
                <a:lnTo>
                  <a:pt x="2451100" y="0"/>
                </a:lnTo>
                <a:arcTo wR="63500" hR="63500" stAng="16200000" swAng="5400000"/>
                <a:lnTo>
                  <a:pt x="2514600" y="581620"/>
                </a:lnTo>
                <a:lnTo>
                  <a:pt x="0" y="58162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6f68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883560" y="777960"/>
            <a:ext cx="23544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4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4efe6"/>
                </a:solidFill>
                <a:latin typeface="IBM Plex Sans"/>
                <a:ea typeface="IBM Plex Sans"/>
              </a:rPr>
              <a:t>Phase 1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883560" y="1024560"/>
            <a:ext cx="23544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1ece4"/>
                </a:solidFill>
                <a:latin typeface="IBM Plex Sans Condensed"/>
                <a:ea typeface="IBM Plex Sans Condensed"/>
              </a:rPr>
              <a:t>Full platform · Weeks 3–10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9321840" y="702000"/>
            <a:ext cx="2514240" cy="581400"/>
          </a:xfrm>
          <a:custGeom>
            <a:avLst/>
            <a:gdLst>
              <a:gd name="textAreaLeft" fmla="*/ 0 w 2514240"/>
              <a:gd name="textAreaRight" fmla="*/ 2514600 w 2514240"/>
              <a:gd name="textAreaTop" fmla="*/ 0 h 581400"/>
              <a:gd name="textAreaBottom" fmla="*/ 581760 h 581400"/>
            </a:gdLst>
            <a:ahLst/>
            <a:rect l="textAreaLeft" t="textAreaTop" r="textAreaRight" b="textAreaBottom"/>
            <a:pathLst>
              <a:path w="2514600" h="581620">
                <a:moveTo>
                  <a:pt x="63500" y="0"/>
                </a:moveTo>
                <a:lnTo>
                  <a:pt x="2451100" y="0"/>
                </a:lnTo>
                <a:arcTo wR="63500" hR="63500" stAng="16200000" swAng="5400000"/>
                <a:lnTo>
                  <a:pt x="2514600" y="581620"/>
                </a:lnTo>
                <a:lnTo>
                  <a:pt x="0" y="58162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6f68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9435960" y="777960"/>
            <a:ext cx="23544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4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4efe6"/>
                </a:solidFill>
                <a:latin typeface="IBM Plex Sans"/>
                <a:ea typeface="IBM Plex Sans"/>
              </a:rPr>
              <a:t>Phase 2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9435960" y="1024560"/>
            <a:ext cx="23544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1ece4"/>
                </a:solidFill>
                <a:latin typeface="IBM Plex Sans Condensed"/>
                <a:ea typeface="IBM Plex Sans Condensed"/>
              </a:rPr>
              <a:t>Mobile apps &amp; more · after Wk 10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355680" y="1321560"/>
            <a:ext cx="1269720" cy="870840"/>
          </a:xfrm>
          <a:prstGeom prst="rect">
            <a:avLst/>
          </a:prstGeom>
          <a:solidFill>
            <a:srgbClr val="8a3d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8920" rIns="38160" tIns="63360" bIns="6336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4efe6"/>
                </a:solidFill>
                <a:latin typeface="IBM Plex Sans Condensed"/>
                <a:ea typeface="IBM Plex Sans Condensed"/>
              </a:rPr>
              <a:t>Needed to move to build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666800" y="1324800"/>
            <a:ext cx="2507760" cy="864360"/>
          </a:xfrm>
          <a:prstGeom prst="rect">
            <a:avLst/>
          </a:prstGeom>
          <a:solidFill>
            <a:srgbClr val="fbf8f2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414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Sign-off + advance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Domain, GCP, GSTIN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Meta verification, DLT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Razorpay KYC, Ads API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4219560" y="1324800"/>
            <a:ext cx="2507760" cy="864360"/>
          </a:xfrm>
          <a:prstGeom prst="rect">
            <a:avLst/>
          </a:prstGeom>
          <a:solidFill>
            <a:srgbClr val="fbf8f2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414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Price sheet + unit Excel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Photos &amp; floor plans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WhatsApp number + wording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UAT feedback in 48 hrs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772320" y="1324800"/>
            <a:ext cx="2507760" cy="864360"/>
          </a:xfrm>
          <a:prstGeom prst="rect">
            <a:avLst/>
          </a:prstGeom>
          <a:solidFill>
            <a:srgbClr val="efebe4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414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Sales team &amp; roles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RERA data compilation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Renders, 360°, video, 3D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Ad accounts + UAT sign-off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9325080" y="1324800"/>
            <a:ext cx="2507760" cy="864360"/>
          </a:xfrm>
          <a:prstGeom prst="rect">
            <a:avLst/>
          </a:prstGeom>
          <a:solidFill>
            <a:srgbClr val="efebe4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666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Final app feature list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Play / App Store accounts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Store icons &amp; screenshots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355680" y="2230920"/>
            <a:ext cx="1269720" cy="1209240"/>
          </a:xfrm>
          <a:prstGeom prst="rect">
            <a:avLst/>
          </a:prstGeom>
          <a:solidFill>
            <a:srgbClr val="8a3d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8920" rIns="38160" tIns="63360" bIns="6336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4efe6"/>
                </a:solidFill>
                <a:latin typeface="IBM Plex Sans Condensed"/>
                <a:ea typeface="IBM Plex Sans Condensed"/>
              </a:rPr>
              <a:t>Delivery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1666800" y="2234160"/>
            <a:ext cx="2507760" cy="1203120"/>
          </a:xfrm>
          <a:prstGeom prst="rect">
            <a:avLst/>
          </a:prstGeom>
          <a:solidFill>
            <a:srgbClr val="fbf8f2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666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Frozen scope &amp; backlog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Architecture + repo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Staging on GCP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Design tokens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3D &amp; RERA data test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219560" y="2234160"/>
            <a:ext cx="2507760" cy="1203120"/>
          </a:xfrm>
          <a:prstGeom prst="rect">
            <a:avLst/>
          </a:prstGeom>
          <a:solidFill>
            <a:srgbClr val="fbf8f2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666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Live website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OTP login + paid access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WhatsApp OTP &amp; alerts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Admin: users, roles, uploads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Leads + pre-sales view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6772320" y="2234160"/>
            <a:ext cx="2507760" cy="1203120"/>
          </a:xfrm>
          <a:prstGeom prst="rect">
            <a:avLst/>
          </a:prstGeom>
          <a:solidFill>
            <a:srgbClr val="efebe4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889680" y="2300760"/>
            <a:ext cx="23410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409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Pipeline, visits, holds</a:t>
            </a:r>
            <a:endParaRPr b="0" lang="en-IN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9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Reports, refunds, GST</a:t>
            </a:r>
            <a:endParaRPr b="0" lang="en-IN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9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Interactive 3D city map</a:t>
            </a:r>
            <a:endParaRPr b="0" lang="en-IN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9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360°, video, 3D viewers</a:t>
            </a:r>
            <a:endParaRPr b="0" lang="en-IN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9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Ads: spend → bookings</a:t>
            </a:r>
            <a:endParaRPr b="0" lang="en-IN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9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Bookings, ledger, privacy</a:t>
            </a:r>
            <a:endParaRPr b="0" lang="en-IN" sz="1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9325080" y="2234160"/>
            <a:ext cx="2507760" cy="1203120"/>
          </a:xfrm>
          <a:prstGeom prst="rect">
            <a:avLst/>
          </a:prstGeom>
          <a:solidFill>
            <a:srgbClr val="efebe4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666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Android &amp; iOS apps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Push notifications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Advisor mobile app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AI assistant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Hindi / Kannada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355680" y="3478680"/>
            <a:ext cx="1269720" cy="870840"/>
          </a:xfrm>
          <a:prstGeom prst="rect">
            <a:avLst/>
          </a:prstGeom>
          <a:solidFill>
            <a:srgbClr val="8a3d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8920" rIns="38160" tIns="63360" bIns="6336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4efe6"/>
                </a:solidFill>
                <a:latin typeface="IBM Plex Sans Condensed"/>
                <a:ea typeface="IBM Plex Sans Condensed"/>
              </a:rPr>
              <a:t>Third-party tools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4efe6"/>
                </a:solidFill>
                <a:latin typeface="IBM Plex Sans Condensed"/>
                <a:ea typeface="IBM Plex Sans Condensed"/>
              </a:rPr>
              <a:t>at cost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1666800" y="3481920"/>
            <a:ext cx="2507760" cy="864360"/>
          </a:xfrm>
          <a:prstGeom prst="rect">
            <a:avLst/>
          </a:prstGeom>
          <a:solidFill>
            <a:srgbClr val="fbf8f2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666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GCP · Workspace · GitHub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DLT ≈ ₹6k one-time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4219560" y="3481920"/>
            <a:ext cx="2507760" cy="864360"/>
          </a:xfrm>
          <a:prstGeom prst="rect">
            <a:avLst/>
          </a:prstGeom>
          <a:solidFill>
            <a:srgbClr val="fbf8f2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414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Razorpay ≈ 2% / txn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WhatsApp BSP ₹2.5–3.5k/mo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Firebase OTP / SMS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GA4 + Meta Pixel (free)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6772320" y="3481920"/>
            <a:ext cx="2507760" cy="864360"/>
          </a:xfrm>
          <a:prstGeom prst="rect">
            <a:avLst/>
          </a:prstGeom>
          <a:solidFill>
            <a:srgbClr val="efebe4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414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Video hosting, geocoding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3D model / 360° ₹30–90k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RERA data vendor (opt.)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VAPT ₹50k–2L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9325080" y="3481920"/>
            <a:ext cx="2507760" cy="864360"/>
          </a:xfrm>
          <a:prstGeom prst="rect">
            <a:avLst/>
          </a:prstGeom>
          <a:solidFill>
            <a:srgbClr val="efebe4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666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Apple Developer $99/yr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Google Play $25 once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Push via Firebase (free)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355680" y="4387680"/>
            <a:ext cx="1269720" cy="687960"/>
          </a:xfrm>
          <a:prstGeom prst="rect">
            <a:avLst/>
          </a:prstGeom>
          <a:solidFill>
            <a:srgbClr val="8a3d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8920" rIns="38160" tIns="63360" bIns="6336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4efe6"/>
                </a:solidFill>
                <a:latin typeface="IBM Plex Sans Condensed"/>
                <a:ea typeface="IBM Plex Sans Condensed"/>
              </a:rPr>
              <a:t>Maintenance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1666800" y="4390920"/>
            <a:ext cx="2507760" cy="681480"/>
          </a:xfrm>
          <a:prstGeom prst="rect">
            <a:avLst/>
          </a:prstGeom>
          <a:solidFill>
            <a:srgbClr val="fbf8f2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666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Weekly status call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Risk &amp; approvals log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4219560" y="4390920"/>
            <a:ext cx="2507760" cy="681480"/>
          </a:xfrm>
          <a:prstGeom prst="rect">
            <a:avLst/>
          </a:prstGeom>
          <a:solidFill>
            <a:srgbClr val="fbf8f2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414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Daily backups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Uptime + error alerts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Launch hypercare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6772320" y="4390920"/>
            <a:ext cx="2507760" cy="681480"/>
          </a:xfrm>
          <a:prstGeom prst="rect">
            <a:avLst/>
          </a:prstGeom>
          <a:solidFill>
            <a:srgbClr val="efebe4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414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Weekly releases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Monthly RERA refresh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Retainer to be Quoted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9325080" y="4390920"/>
            <a:ext cx="2507760" cy="681480"/>
          </a:xfrm>
          <a:prstGeom prst="rect">
            <a:avLst/>
          </a:prstGeom>
          <a:solidFill>
            <a:srgbClr val="efebe4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414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App store releases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OS version updates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Retainer to be Quoted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355680" y="5114160"/>
            <a:ext cx="1269720" cy="858240"/>
          </a:xfrm>
          <a:prstGeom prst="rect">
            <a:avLst/>
          </a:prstGeom>
          <a:solidFill>
            <a:srgbClr val="8a3d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8920" rIns="38160" tIns="63360" bIns="3816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4efe6"/>
                </a:solidFill>
                <a:latin typeface="IBM Plex Sans Condensed"/>
                <a:ea typeface="IBM Plex Sans Condensed"/>
              </a:rPr>
              <a:t>Commercials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4efe6"/>
                </a:solidFill>
                <a:latin typeface="IBM Plex Sans Condensed"/>
                <a:ea typeface="IBM Plex Sans Condensed"/>
              </a:rPr>
              <a:t>1 developer + 1 product/project lead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1666800" y="5117400"/>
            <a:ext cx="4993200" cy="851760"/>
          </a:xfrm>
          <a:prstGeom prst="rect">
            <a:avLst/>
          </a:prstGeom>
          <a:solidFill>
            <a:srgbClr val="f6e2d2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666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                                                </a:t>
            </a: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Tech Development + Setup + PM Efforts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38"/>
          <p:cNvSpPr/>
          <p:nvPr/>
        </p:nvSpPr>
        <p:spPr>
          <a:xfrm>
            <a:off x="6772320" y="5117400"/>
            <a:ext cx="2507760" cy="851760"/>
          </a:xfrm>
          <a:prstGeom prst="rect">
            <a:avLst/>
          </a:prstGeom>
          <a:solidFill>
            <a:srgbClr val="f6e2d2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666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TBD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39"/>
          <p:cNvSpPr/>
          <p:nvPr/>
        </p:nvSpPr>
        <p:spPr>
          <a:xfrm>
            <a:off x="9325080" y="5117400"/>
            <a:ext cx="2507760" cy="851760"/>
          </a:xfrm>
          <a:prstGeom prst="rect">
            <a:avLst/>
          </a:prstGeom>
          <a:solidFill>
            <a:srgbClr val="f6e2d2"/>
          </a:solidFill>
          <a:ln w="6350">
            <a:solidFill>
              <a:srgbClr val="e2d8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49320" tIns="66600" bIns="66600" anchor="t">
            <a:norm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1b16"/>
                </a:solidFill>
                <a:latin typeface="IBM Plex Sans Condensed"/>
                <a:ea typeface="IBM Plex Sans Condensed"/>
              </a:rPr>
              <a:t>TBD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40"/>
          <p:cNvSpPr/>
          <p:nvPr/>
        </p:nvSpPr>
        <p:spPr>
          <a:xfrm>
            <a:off x="355680" y="6086880"/>
            <a:ext cx="11824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75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b6258"/>
                </a:solidFill>
                <a:latin typeface="IBM Plex Sans Condensed"/>
                <a:ea typeface="IBM Plex Sans Condensed"/>
              </a:rPr>
              <a:t>Phase 1 and Phase 2 (grey) are indicative — scope, timing and pricing firm up once Phase 0 is live.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41"/>
          <p:cNvSpPr/>
          <p:nvPr/>
        </p:nvSpPr>
        <p:spPr>
          <a:xfrm>
            <a:off x="355680" y="6415920"/>
            <a:ext cx="118249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6258"/>
                </a:solidFill>
                <a:latin typeface="IBM Plex Sans Condensed"/>
                <a:ea typeface="IBM Plex Sans Condensed"/>
              </a:rPr>
              <a:t>Tech work = development · Setup &amp; PM = product/project management and third-party account creation and setup · 40% at phase start, 60% on UAT · third-party costs at actuals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rrakis Realty Tech Systems at a Glance">
  <a:themeElements>
    <a:clrScheme name="Arrakis Realty Tech Systems at a Glance">
      <a:dk1>
        <a:srgbClr val="6b6258"/>
      </a:dk1>
      <a:lt1>
        <a:srgbClr val="f4efe6"/>
      </a:lt1>
      <a:dk2>
        <a:srgbClr val="8d857c"/>
      </a:dk2>
      <a:lt2>
        <a:srgbClr val="e6e1d8"/>
      </a:lt2>
      <a:accent1>
        <a:srgbClr val="8a3d0f"/>
      </a:accent1>
      <a:accent2>
        <a:srgbClr val="1f1b16"/>
      </a:accent2>
      <a:accent3>
        <a:srgbClr val="9aa0a6"/>
      </a:accent3>
      <a:accent4>
        <a:srgbClr val="a29a91"/>
      </a:accent4>
      <a:accent5>
        <a:srgbClr val="b6b0a6"/>
      </a:accent5>
      <a:accent6>
        <a:srgbClr val="cbc5bb"/>
      </a:accent6>
      <a:hlink>
        <a:srgbClr val="0563c1"/>
      </a:hlink>
      <a:folHlink>
        <a:srgbClr val="954f72"/>
      </a:folHlink>
    </a:clrScheme>
    <a:fontScheme name="Arrakis Realty Tech Systems at a Glance">
      <a:majorFont>
        <a:latin typeface="IBM Plex Sans" pitchFamily="0" charset="1"/>
        <a:ea typeface=""/>
        <a:cs typeface=""/>
      </a:majorFont>
      <a:minorFont>
        <a:latin typeface="IBM Plex Sans Condensed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rakis Realty Tech Systems at a Glance">
  <a:themeElements>
    <a:clrScheme name="Arrakis Realty Tech Systems at a Glance">
      <a:dk1>
        <a:srgbClr val="6b6258"/>
      </a:dk1>
      <a:lt1>
        <a:srgbClr val="f4efe6"/>
      </a:lt1>
      <a:dk2>
        <a:srgbClr val="8d857c"/>
      </a:dk2>
      <a:lt2>
        <a:srgbClr val="e6e1d8"/>
      </a:lt2>
      <a:accent1>
        <a:srgbClr val="8a3d0f"/>
      </a:accent1>
      <a:accent2>
        <a:srgbClr val="1f1b16"/>
      </a:accent2>
      <a:accent3>
        <a:srgbClr val="9aa0a6"/>
      </a:accent3>
      <a:accent4>
        <a:srgbClr val="a29a91"/>
      </a:accent4>
      <a:accent5>
        <a:srgbClr val="b6b0a6"/>
      </a:accent5>
      <a:accent6>
        <a:srgbClr val="cbc5bb"/>
      </a:accent6>
      <a:hlink>
        <a:srgbClr val="0563c1"/>
      </a:hlink>
      <a:folHlink>
        <a:srgbClr val="954f72"/>
      </a:folHlink>
    </a:clrScheme>
    <a:fontScheme name="Arrakis Realty Tech Systems at a Glance">
      <a:majorFont>
        <a:latin typeface="IBM Plex Sans" pitchFamily="0" charset="1"/>
        <a:ea typeface=""/>
        <a:cs typeface=""/>
      </a:majorFont>
      <a:minorFont>
        <a:latin typeface="IBM Plex Sans Condensed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2026-10-02T04:00:45Z</dcterms:created>
  <dc:creator/>
  <dc:description/>
  <dc:language>en-IN</dc:language>
  <cp:lastModifiedBy/>
  <dcterms:modified xsi:type="dcterms:W3CDTF">2026-10-02T09:37:09Z</dcterms:modified>
  <cp:revision>2</cp:revision>
  <dc:subject/>
  <dc:title>Arrakis Realty Tech Systems at a Glance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